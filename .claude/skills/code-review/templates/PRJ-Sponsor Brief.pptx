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8" r:id="rId4"/>
  </p:sldMasterIdLst>
  <p:notesMasterIdLst>
    <p:notesMasterId r:id="rId14"/>
  </p:notesMasterIdLst>
  <p:sldIdLst>
    <p:sldId id="272" r:id="rId5"/>
    <p:sldId id="285" r:id="rId6"/>
    <p:sldId id="3668" r:id="rId7"/>
    <p:sldId id="3669" r:id="rId8"/>
    <p:sldId id="300" r:id="rId9"/>
    <p:sldId id="3673" r:id="rId10"/>
    <p:sldId id="293" r:id="rId11"/>
    <p:sldId id="3671" r:id="rId12"/>
    <p:sldId id="36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7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397D3B-2819-4F27-CDA8-C33CFAC2EE74}" name="Roshani Selvanayagam" initials="RS" userId="S::roshani.selvanayagam@mrl.com.au::69f94116-f121-4d79-aaa1-e5c8ce0a4e55" providerId="AD"/>
  <p188:author id="{2EFACA3F-99EE-485E-9854-E3FFCCE4CE17}" name="Peter Musca" initials="PM" userId="S::peter.musca@mrl.com.au::ad47436a-4751-4f18-b138-cf2e6555db71" providerId="AD"/>
  <p188:author id="{45DEBE7A-8DAD-9137-DA33-8E45F18E7CB4}" name="Michael Pascoe" initials="MP" userId="S::michael.pascoe@mrl.com.au::0c1c90ed-936a-44c2-9cf2-e6535bb112d3" providerId="AD"/>
  <p188:author id="{D9F3C395-02E6-C812-15C6-50E58B0F21FB}" name="Cole Vindevoghel" initials="CV" userId="S::cole.vindevoghel@mrl.com.au::9d4ffca0-d118-4b8d-90a9-d68267838c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372F"/>
    <a:srgbClr val="D8615A"/>
    <a:srgbClr val="A15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5C732D-CB4F-41AE-97A4-6FB188482F11}" v="73" dt="2026-06-23T01:04:47.823"/>
    <p1510:client id="{4987AFDA-82AF-47A3-A1D7-AEBA9D1DC281}" v="16" dt="2026-06-22T02:51:4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077" y="350"/>
      </p:cViewPr>
      <p:guideLst>
        <p:guide orient="horz" pos="799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4376D-74B9-6547-AA3E-A7DC2BEFB31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28553-142E-6347-8609-974AC434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6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Please remove all blue text once you have entered your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28553-142E-6347-8609-974AC43432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33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/>
              <a:t>Please remove all blue text once you have entered your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28553-142E-6347-8609-974AC43432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92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/>
              <a:t>Please remove all blue text once you have entered your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28553-142E-6347-8609-974AC43432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13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C631B3-EE41-D84E-AF1E-7777E46534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6413"/>
          </a:xfr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E634-5991-8B42-940D-03E0FDAA5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3150000"/>
            <a:ext cx="5338923" cy="1655762"/>
          </a:xfrm>
        </p:spPr>
        <p:txBody>
          <a:bodyPr anchor="t" anchorCtr="0">
            <a:noAutofit/>
          </a:bodyPr>
          <a:lstStyle>
            <a:lvl1pPr algn="r">
              <a:lnSpc>
                <a:spcPts val="4500"/>
              </a:lnSpc>
              <a:defRPr sz="4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A7856-9208-FC44-A420-90F802AE1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8" y="4906170"/>
            <a:ext cx="5338923" cy="36512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4F4B8A-268F-1A4F-9595-B051F27FE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6069014"/>
            <a:ext cx="5338923" cy="365125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ASXMIN</a:t>
            </a:r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3B2680-B206-E844-85C7-4AA9A53D0A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27611" y="2293200"/>
            <a:ext cx="2635200" cy="522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2414124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93" userDrawn="1">
          <p15:clr>
            <a:srgbClr val="FBAE40"/>
          </p15:clr>
        </p15:guide>
        <p15:guide id="3" pos="715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 – 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EA5C-3A28-7045-BC92-B25D931B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129B-F5D2-0442-B67F-EB7619237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44465" indent="-144465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17504" indent="-173040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88956" indent="-158752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74696" indent="-185740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46149" indent="-158752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4EE1D-E9A2-DC46-A6FE-00EB8A2E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698" y="6136412"/>
            <a:ext cx="88392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Sponsor Brief - &lt;Insert Project name&gt;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B4AAB-6C79-FD4D-ABF1-EAA98602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6554" y="6136412"/>
            <a:ext cx="204247" cy="720000"/>
          </a:xfrm>
          <a:prstGeom prst="rect">
            <a:avLst/>
          </a:prstGeom>
        </p:spPr>
        <p:txBody>
          <a:bodyPr/>
          <a:lstStyle/>
          <a:p>
            <a:fld id="{4B10911F-F04E-7D45-9841-71E6CFD4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5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 – 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EA5C-3A28-7045-BC92-B25D931B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129B-F5D2-0442-B67F-EB7619237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90" y="1512001"/>
            <a:ext cx="5256000" cy="4256975"/>
          </a:xfrm>
        </p:spPr>
        <p:txBody>
          <a:bodyPr>
            <a:normAutofit/>
          </a:bodyPr>
          <a:lstStyle>
            <a:lvl1pPr marL="144465" indent="-144465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17504" indent="-173040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88956" indent="-158752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74696" indent="-185740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46149" indent="-158752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4EE1D-E9A2-DC46-A6FE-00EB8A2E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698" y="6136412"/>
            <a:ext cx="88392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Sponsor Brief - &lt;Insert Project name&gt;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B4AAB-6C79-FD4D-ABF1-EAA98602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6554" y="6136412"/>
            <a:ext cx="204247" cy="720000"/>
          </a:xfrm>
          <a:prstGeom prst="rect">
            <a:avLst/>
          </a:prstGeom>
        </p:spPr>
        <p:txBody>
          <a:bodyPr/>
          <a:lstStyle/>
          <a:p>
            <a:fld id="{4B10911F-F04E-7D45-9841-71E6CFD429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561C60-4FE6-E141-BC7A-DA4F0290E60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512001"/>
            <a:ext cx="5256000" cy="4256975"/>
          </a:xfrm>
        </p:spPr>
        <p:txBody>
          <a:bodyPr>
            <a:normAutofit/>
          </a:bodyPr>
          <a:lstStyle>
            <a:lvl1pPr marL="144465" indent="-144465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17504" indent="-173040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88956" indent="-158752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74696" indent="-185740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46149" indent="-158752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5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67E8A7-8AC0-AB4A-B559-73BCF19B887F}"/>
              </a:ext>
            </a:extLst>
          </p:cNvPr>
          <p:cNvSpPr/>
          <p:nvPr userDrawn="1"/>
        </p:nvSpPr>
        <p:spPr>
          <a:xfrm>
            <a:off x="0" y="1089026"/>
            <a:ext cx="12195175" cy="5040313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19727-9FE1-624D-B310-0EE1A9CAA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0"/>
            <a:ext cx="10728325" cy="108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93B69-735C-9A4D-B9B8-82B08CDED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1512001"/>
            <a:ext cx="10728325" cy="42569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F1EF81-9F0B-CE45-9A8A-0A9A979772D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584130" y="6364052"/>
            <a:ext cx="1374393" cy="264739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7BE354A-C1D3-8347-8A52-0062928BD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59698" y="6147045"/>
            <a:ext cx="8839200" cy="7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Sponsor Brief - &lt;Insert Project name&gt;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C5408A1-DB88-3B4A-BC4A-1E06116B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6554" y="6147045"/>
            <a:ext cx="204247" cy="72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B10911F-F04E-7D45-9841-71E6CFD429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6F184D-6226-DA48-84D1-E2F54EDAF210}"/>
              </a:ext>
            </a:extLst>
          </p:cNvPr>
          <p:cNvCxnSpPr/>
          <p:nvPr userDrawn="1"/>
        </p:nvCxnSpPr>
        <p:spPr>
          <a:xfrm>
            <a:off x="11364075" y="6457950"/>
            <a:ext cx="0" cy="108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12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83" r:id="rId3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2700" b="1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150" userDrawn="1">
          <p15:clr>
            <a:srgbClr val="F26B43"/>
          </p15:clr>
        </p15:guide>
        <p15:guide id="3" orient="horz" pos="3612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ADFA0D0-E8E0-AC4F-BB5A-70927A96F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9" b="659"/>
          <a:stretch/>
        </p:blipFill>
        <p:spPr>
          <a:xfrm>
            <a:off x="1" y="1"/>
            <a:ext cx="12195175" cy="685958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1684812-8BE3-184C-947B-C732E85E0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3512" y="2292266"/>
            <a:ext cx="2629033" cy="5178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B3BA61B-E0BE-0E42-8309-3B4FD71E1A0C}"/>
              </a:ext>
            </a:extLst>
          </p:cNvPr>
          <p:cNvSpPr txBox="1"/>
          <p:nvPr/>
        </p:nvSpPr>
        <p:spPr>
          <a:xfrm>
            <a:off x="625475" y="3151600"/>
            <a:ext cx="5486400" cy="117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500"/>
              </a:lnSpc>
            </a:pPr>
            <a:r>
              <a:rPr lang="en-AU" sz="4700" b="1" dirty="0">
                <a:solidFill>
                  <a:srgbClr val="CE372F"/>
                </a:solidFill>
              </a:rPr>
              <a:t>Sponsor Brief</a:t>
            </a:r>
          </a:p>
          <a:p>
            <a:pPr algn="r">
              <a:lnSpc>
                <a:spcPts val="4500"/>
              </a:lnSpc>
            </a:pPr>
            <a:r>
              <a:rPr lang="en-US" sz="2400" dirty="0">
                <a:solidFill>
                  <a:schemeClr val="bg1"/>
                </a:solidFill>
              </a:rPr>
              <a:t>Contractor Management - Safety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368F6F57-30B6-7F4B-B3A9-755FD20F21C9}"/>
              </a:ext>
            </a:extLst>
          </p:cNvPr>
          <p:cNvSpPr txBox="1">
            <a:spLocks/>
          </p:cNvSpPr>
          <p:nvPr/>
        </p:nvSpPr>
        <p:spPr>
          <a:xfrm>
            <a:off x="2452545" y="4890759"/>
            <a:ext cx="3600000" cy="293571"/>
          </a:xfrm>
          <a:prstGeom prst="rect">
            <a:avLst/>
          </a:prstGeom>
        </p:spPr>
        <p:txBody>
          <a:bodyPr/>
          <a:lstStyle>
            <a:lvl1pPr marL="180975" indent="-180975" algn="l" defTabSz="1088776" rtl="0" eaLnBrk="1" latinLnBrk="0" hangingPunct="1">
              <a:spcBef>
                <a:spcPts val="900"/>
              </a:spcBef>
              <a:spcAft>
                <a:spcPts val="300"/>
              </a:spcAft>
              <a:buClr>
                <a:srgbClr val="CE372F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1088776" rtl="0" eaLnBrk="1" latinLnBrk="0" hangingPunct="1">
              <a:spcBef>
                <a:spcPts val="0"/>
              </a:spcBef>
              <a:spcAft>
                <a:spcPts val="300"/>
              </a:spcAft>
              <a:buClr>
                <a:srgbClr val="CE372F"/>
              </a:buClr>
              <a:buFont typeface="Arial" panose="020B0604020202020204" pitchFamily="34" charset="0"/>
              <a:buChar char="–"/>
              <a:defRPr sz="15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542925" indent="-180975" algn="l" defTabSz="1088776" rtl="0" eaLnBrk="1" latinLnBrk="0" hangingPunct="1">
              <a:spcBef>
                <a:spcPts val="0"/>
              </a:spcBef>
              <a:spcAft>
                <a:spcPts val="300"/>
              </a:spcAft>
              <a:buClr>
                <a:srgbClr val="CE372F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1088776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2000" b="0" kern="1200" baseline="0">
                <a:solidFill>
                  <a:srgbClr val="CE372F"/>
                </a:solidFill>
                <a:latin typeface="+mn-lt"/>
                <a:ea typeface="+mn-ea"/>
                <a:cs typeface="+mn-cs"/>
              </a:defRPr>
            </a:lvl4pPr>
            <a:lvl5pPr marL="0" indent="0" algn="l" defTabSz="1088776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None/>
              <a:defRPr sz="1500" b="1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994134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8522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910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7298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>
                <a:solidFill>
                  <a:schemeClr val="bg1"/>
                </a:solidFill>
                <a:latin typeface="+mj-lt"/>
              </a:rPr>
              <a:t>Sponsor: &lt;Insert Sponsor&gt; </a:t>
            </a:r>
            <a:r>
              <a:rPr lang="en-AU">
                <a:solidFill>
                  <a:schemeClr val="bg2"/>
                </a:solidFill>
                <a:latin typeface="+mj-lt"/>
              </a:rPr>
              <a:t>  </a:t>
            </a:r>
            <a:endParaRPr lang="en-AU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14BD25-9719-EDE1-C27D-55861C92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911F-F04E-7D45-9841-71E6CFD429FE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412D06F-DA1D-022D-FB1B-8ADE1A750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767406"/>
              </p:ext>
            </p:extLst>
          </p:nvPr>
        </p:nvGraphicFramePr>
        <p:xfrm>
          <a:off x="1449077" y="5422711"/>
          <a:ext cx="4603468" cy="75470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10383">
                  <a:extLst>
                    <a:ext uri="{9D8B030D-6E8A-4147-A177-3AD203B41FA5}">
                      <a16:colId xmlns:a16="http://schemas.microsoft.com/office/drawing/2014/main" val="4184327180"/>
                    </a:ext>
                  </a:extLst>
                </a:gridCol>
                <a:gridCol w="1157161">
                  <a:extLst>
                    <a:ext uri="{9D8B030D-6E8A-4147-A177-3AD203B41FA5}">
                      <a16:colId xmlns:a16="http://schemas.microsoft.com/office/drawing/2014/main" val="1887477589"/>
                    </a:ext>
                  </a:extLst>
                </a:gridCol>
                <a:gridCol w="764660">
                  <a:extLst>
                    <a:ext uri="{9D8B030D-6E8A-4147-A177-3AD203B41FA5}">
                      <a16:colId xmlns:a16="http://schemas.microsoft.com/office/drawing/2014/main" val="2436330462"/>
                    </a:ext>
                  </a:extLst>
                </a:gridCol>
                <a:gridCol w="2071264">
                  <a:extLst>
                    <a:ext uri="{9D8B030D-6E8A-4147-A177-3AD203B41FA5}">
                      <a16:colId xmlns:a16="http://schemas.microsoft.com/office/drawing/2014/main" val="4050077986"/>
                    </a:ext>
                  </a:extLst>
                </a:gridCol>
              </a:tblGrid>
              <a:tr h="250703">
                <a:tc>
                  <a:txBody>
                    <a:bodyPr/>
                    <a:lstStyle/>
                    <a:p>
                      <a:r>
                        <a:rPr lang="en-AU" sz="800" baseline="0">
                          <a:solidFill>
                            <a:schemeClr val="accent1"/>
                          </a:solidFill>
                        </a:rPr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800" baseline="0">
                          <a:solidFill>
                            <a:schemeClr val="accent1"/>
                          </a:solidFill>
                        </a:rPr>
                        <a:t>Completed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800" baseline="0">
                          <a:solidFill>
                            <a:schemeClr val="accent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800" baseline="0">
                          <a:solidFill>
                            <a:schemeClr val="accent1"/>
                          </a:solidFill>
                        </a:rPr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242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AU" sz="800" baseline="0">
                          <a:solidFill>
                            <a:schemeClr val="bg1"/>
                          </a:solidFill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aseline="0" dirty="0">
                          <a:solidFill>
                            <a:schemeClr val="bg1"/>
                          </a:solidFill>
                        </a:rPr>
                        <a:t>C. Pavlinovich</a:t>
                      </a:r>
                      <a:endParaRPr lang="en-AU" sz="800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aseline="0" dirty="0">
                          <a:solidFill>
                            <a:schemeClr val="bg1"/>
                          </a:solidFill>
                        </a:rPr>
                        <a:t>23/06/2026</a:t>
                      </a:r>
                      <a:endParaRPr lang="en-AU" sz="800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800" baseline="0">
                          <a:solidFill>
                            <a:schemeClr val="bg1"/>
                          </a:solidFill>
                        </a:rPr>
                        <a:t>Initial Draft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8461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AU" sz="800" baseline="0">
                          <a:solidFill>
                            <a:schemeClr val="bg1"/>
                          </a:solidFill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800" baseline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800" baseline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800" baseline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228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549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8469-ABB5-3342-B173-EEB52D88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E372F"/>
                </a:solidFill>
                <a:latin typeface="Arial"/>
                <a:cs typeface="Arial"/>
              </a:rPr>
              <a:t>Business</a:t>
            </a:r>
            <a:r>
              <a:rPr lang="en-US" dirty="0">
                <a:latin typeface="Arial"/>
                <a:cs typeface="Arial"/>
              </a:rPr>
              <a:t> Context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677B6-C3F7-7C04-A4C1-F39311C4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911F-F04E-7D45-9841-71E6CFD429FE}" type="slidenum">
              <a:rPr lang="en-US" smtClean="0"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A79543-4308-8D68-44B9-3DB7BF448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151164"/>
            <a:ext cx="10873698" cy="4931229"/>
          </a:xfrm>
        </p:spPr>
        <p:txBody>
          <a:bodyPr vert="horz" lIns="72000" tIns="0" rIns="72000" bIns="0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dirty="0"/>
              <a:t>The current supplier prequalification process at Mineral Resources Limited relies on </a:t>
            </a:r>
            <a:r>
              <a:rPr lang="en-AU" sz="1200" b="1" dirty="0"/>
              <a:t>manual review </a:t>
            </a:r>
            <a:r>
              <a:rPr lang="en-AU" sz="1200" dirty="0"/>
              <a:t>of supplier documentation by </a:t>
            </a:r>
            <a:r>
              <a:rPr lang="en-AU" sz="1200" b="1" dirty="0"/>
              <a:t>dedicated personnel</a:t>
            </a:r>
            <a:r>
              <a:rPr lang="en-AU" sz="1200" dirty="0"/>
              <a:t>. This traditional approach requires human experts to: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AU" sz="1200" b="1" dirty="0"/>
              <a:t>Manually</a:t>
            </a:r>
            <a:r>
              <a:rPr lang="en-AU" sz="1200" dirty="0"/>
              <a:t> read and interpret supplier documentation across </a:t>
            </a:r>
            <a:r>
              <a:rPr lang="en-AU" sz="1200" b="1" dirty="0"/>
              <a:t>multiple formats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Compare supplier systems and processes against </a:t>
            </a:r>
            <a:r>
              <a:rPr lang="en-AU" sz="1200" b="1" dirty="0"/>
              <a:t>category-specific requirements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Assess alignment with the organization's safety management system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Benchmark supplier critical risk programs against </a:t>
            </a:r>
            <a:r>
              <a:rPr lang="en-AU" sz="1200" b="1" dirty="0"/>
              <a:t>Critical Risk standards</a:t>
            </a:r>
          </a:p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Generate prequalification reports and verification outcomes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dirty="0"/>
              <a:t>The process involves managing </a:t>
            </a:r>
            <a:r>
              <a:rPr lang="en-AU" sz="1200" b="1" dirty="0"/>
              <a:t>high volumes </a:t>
            </a:r>
            <a:r>
              <a:rPr lang="en-AU" sz="1200" dirty="0"/>
              <a:t>of new suppliers, with outcomes </a:t>
            </a:r>
            <a:r>
              <a:rPr lang="en-AU" sz="1200" b="1" dirty="0"/>
              <a:t>dependent on individual reviewer expertise and availability</a:t>
            </a:r>
            <a:r>
              <a:rPr lang="en-AU" sz="1200" dirty="0"/>
              <a:t>. Prequalification activities create a </a:t>
            </a:r>
            <a:r>
              <a:rPr lang="en-AU" sz="1200" b="1" dirty="0"/>
              <a:t>gateway</a:t>
            </a:r>
            <a:r>
              <a:rPr lang="en-AU" sz="1200" dirty="0"/>
              <a:t> </a:t>
            </a:r>
            <a:r>
              <a:rPr lang="en-AU" sz="1200" b="1" dirty="0"/>
              <a:t>in the supplier onboarding pipeline</a:t>
            </a:r>
            <a:r>
              <a:rPr lang="en-AU" sz="1200" dirty="0"/>
              <a:t>, with resource allocation focused on document analysis, risk assessment, and compliance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63187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8469-ABB5-3342-B173-EEB52D88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E372F"/>
                </a:solidFill>
                <a:latin typeface="Arial"/>
                <a:cs typeface="Arial"/>
              </a:rPr>
              <a:t>Business</a:t>
            </a:r>
            <a:r>
              <a:rPr lang="en-US">
                <a:latin typeface="Arial"/>
                <a:cs typeface="Arial"/>
              </a:rPr>
              <a:t> Problem (“however..”)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677B6-C3F7-7C04-A4C1-F39311C4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911F-F04E-7D45-9841-71E6CFD429FE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F8B253-9AAA-FE08-1EE7-63A28388F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151164"/>
            <a:ext cx="10873698" cy="4931229"/>
          </a:xfrm>
        </p:spPr>
        <p:txBody>
          <a:bodyPr vert="horz" lIns="72000" tIns="0" rIns="72000" bIns="0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dirty="0">
                <a:latin typeface="+mn-lt"/>
                <a:cs typeface="Times New Roman" panose="02020603050405020304" pitchFamily="18" charset="0"/>
              </a:rPr>
              <a:t>The current supplier prequalification process faces four critical challenges that impact operational efficiency and supplier onboarding:</a:t>
            </a:r>
          </a:p>
          <a:p>
            <a:pPr marL="530231" lvl="3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b="1" dirty="0">
                <a:latin typeface="+mn-lt"/>
                <a:cs typeface="Times New Roman" panose="02020603050405020304" pitchFamily="18" charset="0"/>
              </a:rPr>
              <a:t>Time-intensive operations</a:t>
            </a:r>
            <a:r>
              <a:rPr lang="en-AU" sz="1200" dirty="0">
                <a:latin typeface="+mn-lt"/>
                <a:cs typeface="Times New Roman" panose="02020603050405020304" pitchFamily="18" charset="0"/>
              </a:rPr>
              <a:t>: Manual review of supplier documentation creates bottlenecks and delays in the onboarding process, preventing rapid supplier engagement when business needs demand it.</a:t>
            </a:r>
          </a:p>
          <a:p>
            <a:pPr marL="530231" lvl="3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b="1" dirty="0">
                <a:latin typeface="+mn-lt"/>
                <a:cs typeface="Times New Roman" panose="02020603050405020304" pitchFamily="18" charset="0"/>
              </a:rPr>
              <a:t>Inconsistent outcomes: </a:t>
            </a:r>
            <a:r>
              <a:rPr lang="en-AU" sz="1200" dirty="0">
                <a:latin typeface="+mn-lt"/>
                <a:cs typeface="Times New Roman" panose="02020603050405020304" pitchFamily="18" charset="0"/>
              </a:rPr>
              <a:t>Prequalification results vary depending on which individual conducts the review, leading to unpredictable assessment outcomes and potential compliance risks.</a:t>
            </a:r>
          </a:p>
          <a:p>
            <a:pPr marL="530231" lvl="3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b="1" dirty="0">
                <a:latin typeface="+mn-lt"/>
                <a:cs typeface="Times New Roman" panose="02020603050405020304" pitchFamily="18" charset="0"/>
              </a:rPr>
              <a:t>Resource-heavy requirements: </a:t>
            </a:r>
            <a:r>
              <a:rPr lang="en-AU" sz="1200" dirty="0">
                <a:latin typeface="+mn-lt"/>
                <a:cs typeface="Times New Roman" panose="02020603050405020304" pitchFamily="18" charset="0"/>
              </a:rPr>
              <a:t>Dedicated personnel with specialized expertise are required to manage and execute prequalification's, limiting capacity and creating dependency on specific individuals.</a:t>
            </a:r>
          </a:p>
          <a:p>
            <a:pPr marL="530231" lvl="3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b="1" dirty="0">
                <a:latin typeface="+mn-lt"/>
                <a:cs typeface="Times New Roman" panose="02020603050405020304" pitchFamily="18" charset="0"/>
              </a:rPr>
              <a:t>Unscalable model: </a:t>
            </a:r>
            <a:r>
              <a:rPr lang="en-AU" sz="1200" dirty="0">
                <a:latin typeface="+mn-lt"/>
                <a:cs typeface="Times New Roman" panose="02020603050405020304" pitchFamily="18" charset="0"/>
              </a:rPr>
              <a:t>The current volume of new suppliers cannot be efficiently managed under the existing manual approach, preventing the business from responding to growth opportunities or market demands.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dirty="0">
                <a:latin typeface="+mn-lt"/>
                <a:cs typeface="Times New Roman" panose="02020603050405020304" pitchFamily="18" charset="0"/>
              </a:rPr>
              <a:t>These limitations create operational risk through delayed supplier onboarding, inconsistent quality assurance, and an inability to scale operations to meet business demand.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endParaRPr lang="en-US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50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8469-ABB5-3342-B173-EEB52D88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E372F"/>
                </a:solidFill>
                <a:latin typeface="Arial"/>
                <a:cs typeface="Arial"/>
              </a:rPr>
              <a:t>Options/solutions (therefore..)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677B6-C3F7-7C04-A4C1-F39311C4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911F-F04E-7D45-9841-71E6CFD429FE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BDD19F-C9EF-F361-65DE-5F30E2711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151164"/>
            <a:ext cx="10873698" cy="4931229"/>
          </a:xfrm>
        </p:spPr>
        <p:txBody>
          <a:bodyPr vert="horz" lIns="72000" tIns="0" rIns="72000" bIns="0" rtlCol="0" anchor="t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dirty="0"/>
              <a:t>An AI-powered platform will automate supplier prequalification document analysis while retaining human oversight at critical decision points. The solution automates document reading, interpretation, and mapping of supplier systems against category-specific requirements and safety management system standards.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b="1" dirty="0"/>
              <a:t>How it works: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Suppliers provide documentation through existing channels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The AI platform </a:t>
            </a:r>
            <a:r>
              <a:rPr lang="en-AU" sz="1200" dirty="0" err="1"/>
              <a:t>analyzes</a:t>
            </a:r>
            <a:r>
              <a:rPr lang="en-AU" sz="1200" dirty="0"/>
              <a:t> documents and maps supplier systems against requirements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The platform benchmarks critical risk programs against organizational standards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 System generates structured prequalification reports and verification outcomes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dirty="0"/>
              <a:t> Human reviewers validate and approve outputs before finalization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b="1" dirty="0"/>
              <a:t>Phased delivery: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b="1" dirty="0"/>
              <a:t>Phase 1: </a:t>
            </a:r>
            <a:r>
              <a:rPr lang="en-AU" sz="1200" dirty="0"/>
              <a:t>Core prequalification engine with document analysis and automated report generation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b="1" dirty="0"/>
              <a:t>Phase 2: </a:t>
            </a:r>
            <a:r>
              <a:rPr lang="en-AU" sz="1200" dirty="0"/>
              <a:t>Critical Risk verification with automated gap analysis</a:t>
            </a:r>
          </a:p>
          <a:p>
            <a:pPr lvl="3" algn="just">
              <a:lnSpc>
                <a:spcPct val="150000"/>
              </a:lnSpc>
              <a:spcBef>
                <a:spcPts val="1200"/>
              </a:spcBef>
            </a:pPr>
            <a:r>
              <a:rPr lang="en-AU" sz="1200" b="1" dirty="0"/>
              <a:t>Phase 3: </a:t>
            </a:r>
            <a:r>
              <a:rPr lang="en-AU" sz="1200" dirty="0"/>
              <a:t>Supplier-specific overviews and infield verification tool generation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AU" sz="1200" dirty="0"/>
              <a:t>The platform is designed to be self-sufficient, minimizing human input beyond defined touchpoints (supplier contact, document collection, and output validation). An initial trial period will calibrate AI outputs for consistency and accuracy before full deployment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908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CE24-1E3D-A5ED-93C7-6CEF5192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High-level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02DA5-4A63-675A-F2DA-AEA37FAD4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169721"/>
            <a:ext cx="5256000" cy="4869872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300" dirty="0">
                <a:solidFill>
                  <a:schemeClr val="accent1"/>
                </a:solidFill>
                <a:latin typeface="Arial"/>
                <a:cs typeface="Arial"/>
              </a:rPr>
              <a:t>In Scope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Development of AI-powered document analysis engine for supplier prequalification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Automated mapping of supplier systems and processes against category-specific requirements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Automated benchmarking against organizational safety management system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Critical Risk verification capability with automated gap analysis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Generation of structured prequalification reports and verification outcomes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Human review and approval workflow for AI-generated outputs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Trial and calibration period for AI output refinement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Supplier-specific overview and profiling capability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Generation of customized infield audit checklists and assessment frameworks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Support for multiple document formats and unstructured supplier documentation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300" dirty="0"/>
              <a:t>Audit trail of AI decisions and human validations</a:t>
            </a:r>
          </a:p>
          <a:p>
            <a:pPr marL="317500" lvl="1" indent="-172720">
              <a:spcBef>
                <a:spcPts val="600"/>
              </a:spcBef>
            </a:pPr>
            <a:endParaRPr lang="en-AU" dirty="0"/>
          </a:p>
          <a:p>
            <a:pPr marL="317500" lvl="1" indent="-172720">
              <a:spcBef>
                <a:spcPts val="600"/>
              </a:spcBef>
            </a:pPr>
            <a:endParaRPr lang="en-AU" dirty="0"/>
          </a:p>
          <a:p>
            <a:pPr marL="144145" indent="-144145">
              <a:spcBef>
                <a:spcPts val="600"/>
              </a:spcBef>
            </a:pPr>
            <a:endParaRPr lang="en-AU" dirty="0"/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D4F41-1298-C2A9-D7B7-1306966D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911F-F04E-7D45-9841-71E6CFD429FE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B45A7B-BE98-7503-7E1A-4F91AF84AD6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191492"/>
            <a:ext cx="5256000" cy="4869872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AU" sz="1200" dirty="0">
                <a:solidFill>
                  <a:schemeClr val="accent1"/>
                </a:solidFill>
                <a:latin typeface="Arial"/>
                <a:cs typeface="Arial"/>
              </a:rPr>
              <a:t>Out of Scope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Supplier contact and initial document collection (remains human-executed)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Replacement of human verification at key decision points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Integration with external supplier management platforms (Phase 1)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Real-time supplier performance monitoring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Automated supplier risk scoring beyond prequalification phase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Supplier relationship management capabilities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Contract management functionality</a:t>
            </a:r>
          </a:p>
          <a:p>
            <a:pPr marL="144145" indent="-144145">
              <a:lnSpc>
                <a:spcPct val="150000"/>
              </a:lnSpc>
              <a:spcBef>
                <a:spcPts val="600"/>
              </a:spcBef>
            </a:pPr>
            <a:r>
              <a:rPr lang="en-AU" sz="1200" dirty="0">
                <a:latin typeface="Arial"/>
                <a:cs typeface="Arial"/>
              </a:rPr>
              <a:t>Supplier payment or financial processing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420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1534-FEA8-E466-0613-85746D64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Business Drivers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30CB9-71B9-AB55-CA52-45D6C807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0911F-F04E-7D45-9841-71E6CFD429FE}" type="slidenum">
              <a:rPr lang="en-AU" noProof="0" smtClean="0"/>
              <a:t>6</a:t>
            </a:fld>
            <a:endParaRPr lang="en-AU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5D7A5E-3226-C493-8463-464AD3840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492386"/>
              </p:ext>
            </p:extLst>
          </p:nvPr>
        </p:nvGraphicFramePr>
        <p:xfrm>
          <a:off x="327488" y="969146"/>
          <a:ext cx="11537023" cy="5800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295">
                  <a:extLst>
                    <a:ext uri="{9D8B030D-6E8A-4147-A177-3AD203B41FA5}">
                      <a16:colId xmlns:a16="http://schemas.microsoft.com/office/drawing/2014/main" val="1338830246"/>
                    </a:ext>
                  </a:extLst>
                </a:gridCol>
                <a:gridCol w="2790907">
                  <a:extLst>
                    <a:ext uri="{9D8B030D-6E8A-4147-A177-3AD203B41FA5}">
                      <a16:colId xmlns:a16="http://schemas.microsoft.com/office/drawing/2014/main" val="4015640779"/>
                    </a:ext>
                  </a:extLst>
                </a:gridCol>
                <a:gridCol w="4302821">
                  <a:extLst>
                    <a:ext uri="{9D8B030D-6E8A-4147-A177-3AD203B41FA5}">
                      <a16:colId xmlns:a16="http://schemas.microsoft.com/office/drawing/2014/main" val="2116091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000" noProof="0" dirty="0"/>
                        <a:t>Business 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000" noProof="0" dirty="0"/>
                        <a:t>Business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000" noProof="0"/>
                        <a:t>Business Objective</a:t>
                      </a:r>
                      <a:endParaRPr lang="en-AU" sz="1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193599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1. Process Efficiency &amp; Operational Speed </a:t>
                      </a:r>
                      <a:r>
                        <a:rPr lang="en-AU" sz="1000" dirty="0"/>
                        <a:t>Critical need to eliminate bottlenecks in supplier onboarding and reduce manual effort required for document analysis and prequalification assessment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1.1 </a:t>
                      </a:r>
                      <a:r>
                        <a:rPr lang="en-AU" sz="1000" b="0" dirty="0"/>
                        <a:t> Accelerate Supplier Onboarding Timeline</a:t>
                      </a:r>
                      <a:endParaRPr 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1.1.1</a:t>
                      </a:r>
                      <a:r>
                        <a:rPr lang="en-US" sz="1000" dirty="0"/>
                        <a:t> </a:t>
                      </a:r>
                      <a:r>
                        <a:rPr lang="en-AU" sz="1000" dirty="0"/>
                        <a:t>Reduce manual document review time by 70% through automated AI analysis and interpretation by Phase 1 completion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273923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1.1.2</a:t>
                      </a:r>
                      <a:r>
                        <a:rPr lang="en-AU" sz="1000" dirty="0"/>
                        <a:t> Eliminate prequalification bottlenecks enabling faster supplier engagement and time-to-operation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201454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1.2 </a:t>
                      </a:r>
                      <a:r>
                        <a:rPr lang="en-AU" sz="1000" b="0" dirty="0"/>
                        <a:t>Optimize Resource Allocation &amp; Cost</a:t>
                      </a:r>
                      <a:endParaRPr 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1.2.1</a:t>
                      </a:r>
                      <a:r>
                        <a:rPr lang="en-AU" sz="1000" dirty="0"/>
                        <a:t> Minimize dedicated personnel requirements for prequalification activities compared to current manual processes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978004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1" dirty="0"/>
                        <a:t>1.2.2</a:t>
                      </a:r>
                      <a:r>
                        <a:rPr lang="en-AU" sz="1000" dirty="0"/>
                        <a:t> Achieve self-sufficient platform operation with human input limited to defined touchpoints (supplier contact, document collection, output validation)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051329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2. Quality Consistency &amp; Risk Management </a:t>
                      </a:r>
                      <a:r>
                        <a:rPr lang="en-AU" sz="1000" dirty="0"/>
                        <a:t>Requirement to standardize prequalification outcomes and ensure consistent risk assessment across all supplier evaluations independent of individual reviewer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2.1 </a:t>
                      </a:r>
                      <a:r>
                        <a:rPr lang="en-US" sz="1000" b="0" dirty="0"/>
                        <a:t>Standardize Assessment Outcomes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2.1.1</a:t>
                      </a:r>
                      <a:r>
                        <a:rPr lang="en-AU" sz="1000" dirty="0"/>
                        <a:t> Deliver consistent prequalification results across all reviews through standardized AI-driven assessment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482011"/>
                  </a:ext>
                </a:extLst>
              </a:tr>
              <a:tr h="4611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2.1.2</a:t>
                      </a:r>
                      <a:r>
                        <a:rPr lang="en-AU" sz="1000" dirty="0"/>
                        <a:t> Eliminate outcome variability dependent on individual reviewer expertise and interpretation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597312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2.2</a:t>
                      </a:r>
                      <a:r>
                        <a:rPr lang="en-AU" sz="1000" dirty="0"/>
                        <a:t> Enhance Risk Detection &amp; Compliance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2.2.1 </a:t>
                      </a:r>
                      <a:r>
                        <a:rPr lang="en-AU" sz="1000" dirty="0"/>
                        <a:t>Implement automated gap analysis of supplier critical risk programs against organizational standards (Phase 2)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693383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000" b="1" dirty="0"/>
                        <a:t>2.2.2</a:t>
                      </a:r>
                      <a:r>
                        <a:rPr lang="en-AU" sz="1000" dirty="0"/>
                        <a:t> Improve detection of non-conformance and partial compliance in supplier documentation through AI pattern recognition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409537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1" dirty="0"/>
                        <a:t>3. Scalability &amp; Strategic Capability </a:t>
                      </a:r>
                      <a:r>
                        <a:rPr lang="en-AU" sz="1000" dirty="0"/>
                        <a:t>Requirement to manage high volumes of new suppliers and establish foundation for AI-driven supplier performance and assurance capability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/>
                        <a:t>3.1 </a:t>
                      </a:r>
                      <a:r>
                        <a:rPr lang="en-US" sz="1000" b="0" dirty="0"/>
                        <a:t>Scale Prequalification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1" dirty="0"/>
                        <a:t>3.1.1</a:t>
                      </a:r>
                      <a:r>
                        <a:rPr lang="en-AU" sz="1000" dirty="0"/>
                        <a:t> Enable efficient management of high supplier volumes without proportional resource increase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214526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1" dirty="0"/>
                        <a:t>3.1.2</a:t>
                      </a:r>
                      <a:r>
                        <a:rPr lang="en-AU" sz="1000" dirty="0"/>
                        <a:t> Support increased supplier onboarding demand aligned with business growth opportunities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84050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1" dirty="0"/>
                        <a:t>3.2</a:t>
                      </a:r>
                      <a:r>
                        <a:rPr lang="en-AU" sz="1000" dirty="0"/>
                        <a:t> Build Strategic AI Foundation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1" dirty="0"/>
                        <a:t>3.2.1 </a:t>
                      </a:r>
                      <a:r>
                        <a:rPr lang="en-AU" sz="1000" dirty="0"/>
                        <a:t>Establish platform roadmap for incorporating emerging AI capabilities as technology evolves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222801"/>
                  </a:ext>
                </a:extLst>
              </a:tr>
              <a:tr h="3566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1" dirty="0"/>
                        <a:t>3.2.2</a:t>
                      </a:r>
                      <a:r>
                        <a:rPr lang="en-AU" sz="1000" dirty="0"/>
                        <a:t> Create foundation for broader AI-driven supplier performance monitoring and assurance capability beyond prequalification</a:t>
                      </a:r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828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84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8469-ABB5-3342-B173-EEB52D88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0"/>
            <a:ext cx="10728325" cy="1065402"/>
          </a:xfrm>
        </p:spPr>
        <p:txBody>
          <a:bodyPr/>
          <a:lstStyle/>
          <a:p>
            <a:r>
              <a:rPr lang="en-US" dirty="0">
                <a:solidFill>
                  <a:srgbClr val="CE372F"/>
                </a:solidFill>
                <a:latin typeface="Arial"/>
                <a:cs typeface="Arial"/>
              </a:rPr>
              <a:t>Risks</a:t>
            </a:r>
            <a:endParaRPr 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95934E6-E823-65CF-D7A7-B02FC3506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114082"/>
              </p:ext>
            </p:extLst>
          </p:nvPr>
        </p:nvGraphicFramePr>
        <p:xfrm>
          <a:off x="633315" y="1342911"/>
          <a:ext cx="10726737" cy="460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5313">
                  <a:extLst>
                    <a:ext uri="{9D8B030D-6E8A-4147-A177-3AD203B41FA5}">
                      <a16:colId xmlns:a16="http://schemas.microsoft.com/office/drawing/2014/main" val="352105509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10221964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61625049"/>
                    </a:ext>
                  </a:extLst>
                </a:gridCol>
                <a:gridCol w="4200016">
                  <a:extLst>
                    <a:ext uri="{9D8B030D-6E8A-4147-A177-3AD203B41FA5}">
                      <a16:colId xmlns:a16="http://schemas.microsoft.com/office/drawing/2014/main" val="3630151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sz="900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900" dirty="0"/>
                        <a:t>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900"/>
                        <a:t>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900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07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 output accuracy is insufficient during initial deployment, requiring extensive rework and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Build trial and error period into Phase 1 to test, refine, and calibrate AI outputs for consistency and accuracy before full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849076"/>
                  </a:ext>
                </a:extLst>
              </a:tr>
              <a:tr h="5415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cannot handle diverse document formats or unstructured supplier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Phase 1 includes support for multiple document formats; trial period identifies format limitations early; build refinement capability into platform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74031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Inconsistent category-specific requirements and safety standards prevent effective automated benchmarking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Ensure category-specific requirements and safety management system standards are clearly defined and documented before platform implementation; validate during trial period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9937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Human reviewers do not trust AI-generated outputs, leading to redundant manual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Retain human verification at key decision points; position platform as augmenting (not replacing) professional judgment; demonstrate accuracy through calibration period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0262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Implementation timeline extends beyond planned phases, delaying value realization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Phased delivery approach allows early value realization in Phase 1; focus Phase 1 on core automation capability; build in contingency time for calibration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24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Resource availability for human validation touchpoints is insufficient during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Clearly define and communicate required human touchpoints; ensure validation resources are allocated before deployment; design self-sufficient platform to minimize touchpoint volume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68315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Emerging AI technology advances faster than platform can adapt, causing capability obsolescence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Build ongoing review of emerging AI capabilities into platform roadmap; design platform architecture for adaptability; plan regular capability assessments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95499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Scope creep into broader supplier management functions beyond prequalification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Maintain clear scope boundaries; position Phase 3 as foundation for future capabilities but not full implementation; manage stakeholder expectations through governance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43427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A781D-23EB-818E-5A97-0AD5A233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0911F-F04E-7D45-9841-71E6CFD429FE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51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E2A1-D9A9-F55C-AA6D-F3E56DCE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B25A-8220-7C00-8AFF-B2D1DED6D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0"/>
            <a:ext cx="10728325" cy="1065402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Constraints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A8BBF-5CD8-BDA5-EA58-36549FFB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0911F-F04E-7D45-9841-71E6CFD429FE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24C4A7-A314-0620-B37D-0D1021DF3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481867"/>
              </p:ext>
            </p:extLst>
          </p:nvPr>
        </p:nvGraphicFramePr>
        <p:xfrm>
          <a:off x="1734796" y="1145135"/>
          <a:ext cx="8263784" cy="4761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622">
                  <a:extLst>
                    <a:ext uri="{9D8B030D-6E8A-4147-A177-3AD203B41FA5}">
                      <a16:colId xmlns:a16="http://schemas.microsoft.com/office/drawing/2014/main" val="3745185145"/>
                    </a:ext>
                  </a:extLst>
                </a:gridCol>
                <a:gridCol w="6375162">
                  <a:extLst>
                    <a:ext uri="{9D8B030D-6E8A-4147-A177-3AD203B41FA5}">
                      <a16:colId xmlns:a16="http://schemas.microsoft.com/office/drawing/2014/main" val="4038123176"/>
                    </a:ext>
                  </a:extLst>
                </a:gridCol>
              </a:tblGrid>
              <a:tr h="2509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Category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Constraint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91126565"/>
                  </a:ext>
                </a:extLst>
              </a:tr>
              <a:tr h="250977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Timeline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Must be delivered in 3 sequential phases (Phase 1 → Phase 2 → Phase 3)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15123135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Phase 1 must include a mandatory trial and error period for AI calibration before full deployment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533000325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Value realization is dependent on successful completion of each phase before advancing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042076473"/>
                  </a:ext>
                </a:extLst>
              </a:tr>
              <a:tr h="250977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Technical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must support multiple document formats for supplier information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294227785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Must integrate with existing supplier contact and document collection processes (human touchpoint)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83609419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 capabilities are limited by current state of technology and will require ongoing evolution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7338708"/>
                  </a:ext>
                </a:extLst>
              </a:tr>
              <a:tr h="250977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Resource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Human reviewers must remain available for validation and approval at defined touchpoints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532205137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Dedicated personnel still required for supplier contact, document collection, and final approval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06325426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Manual risk assessment expertise may be required during Phase 1 and 2 transition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464914125"/>
                  </a:ext>
                </a:extLst>
              </a:tr>
              <a:tr h="250977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Operational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Human verification must be retained at key decision points (non-negotiable requirement)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6071471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must augment, not replace, professional judgment in prequalification decisions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31911082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Existing supplier onboarding processes must continue during platform development and deployment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944453742"/>
                  </a:ext>
                </a:extLst>
              </a:tr>
              <a:tr h="250977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Governance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Phased delivery is mandatory to manage implementation risk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49982338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Trial period results must validate accuracy and consistency before full deployment approval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16672397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must maintain audit trails and compliance with organizational governance requirements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26780896"/>
                  </a:ext>
                </a:extLst>
              </a:tr>
              <a:tr h="250977"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Quality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 outputs must meet defined accuracy and consistency standards through calibration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582799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Platform must deliver consistent prequalification outcomes across all reviewers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85712632"/>
                  </a:ext>
                </a:extLst>
              </a:tr>
              <a:tr h="2509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AU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Critical Risk verification must align with organizational Critical Risk standards and requirements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1633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95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532BE-3645-F0CA-6058-9554F611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5265-FC4A-DFD8-4ECC-8CABB0EA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0"/>
            <a:ext cx="10728325" cy="1065402"/>
          </a:xfrm>
        </p:spPr>
        <p:txBody>
          <a:bodyPr/>
          <a:lstStyle/>
          <a:p>
            <a:r>
              <a:rPr lang="en-US" dirty="0">
                <a:solidFill>
                  <a:srgbClr val="CE372F"/>
                </a:solidFill>
                <a:latin typeface="Arial"/>
                <a:cs typeface="Arial"/>
              </a:rPr>
              <a:t>Assumptions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26552-33DB-6255-2215-5695A4BA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0911F-F04E-7D45-9841-71E6CFD429FE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1F6F24-3886-7C21-23A7-ED96E0C9D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268959"/>
              </p:ext>
            </p:extLst>
          </p:nvPr>
        </p:nvGraphicFramePr>
        <p:xfrm>
          <a:off x="1108807" y="1387882"/>
          <a:ext cx="10070822" cy="437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380">
                  <a:extLst>
                    <a:ext uri="{9D8B030D-6E8A-4147-A177-3AD203B41FA5}">
                      <a16:colId xmlns:a16="http://schemas.microsoft.com/office/drawing/2014/main" val="3242179819"/>
                    </a:ext>
                  </a:extLst>
                </a:gridCol>
                <a:gridCol w="7394442">
                  <a:extLst>
                    <a:ext uri="{9D8B030D-6E8A-4147-A177-3AD203B41FA5}">
                      <a16:colId xmlns:a16="http://schemas.microsoft.com/office/drawing/2014/main" val="2927003683"/>
                    </a:ext>
                  </a:extLst>
                </a:gridCol>
              </a:tblGrid>
              <a:tr h="318928">
                <a:tc>
                  <a:txBody>
                    <a:bodyPr/>
                    <a:lstStyle/>
                    <a:p>
                      <a:r>
                        <a:rPr lang="en-US" sz="1200" dirty="0"/>
                        <a:t>Category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Assumption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084030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Budget Availability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Funding will be approved and available for all three phases of platform development 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846580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Stakeholder Support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Business units and procurement teams will support adoption and provide necessary input during trial period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89343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AI Technology Maturity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Current AI/ML technology is sufficiently mature to deliver required document interpretation and analysis capabilities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00995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Supplier Cooperation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Suppliers will provide documentation in formats that can be processed by the AI platform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936410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Resource Availability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DTS Project Delivery team has capacity and capability to deliver the platform build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02933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Category Requirements Defined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MinRes category-specific requirements and safety management standards are documented and stable enough for AI benchmarking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31204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Integration Feasibility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latin typeface="+mn-lt"/>
                          <a:cs typeface="Times New Roman" panose="02020603050405020304" pitchFamily="18" charset="0"/>
                        </a:rPr>
                        <a:t>Existing supplier management systems can support data integration or export capabilities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22053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Trial Period Success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>
                          <a:latin typeface="+mn-lt"/>
                          <a:cs typeface="Times New Roman" panose="02020603050405020304" pitchFamily="18" charset="0"/>
                        </a:rPr>
                        <a:t>Phase 1 trial will validate AI accuracy and consistency within reasonable timeframes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85013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Change Management Support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Organizational change management resources will be available to support user adoption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09290"/>
                  </a:ext>
                </a:extLst>
              </a:tr>
              <a:tr h="393199">
                <a:tc>
                  <a:txBody>
                    <a:bodyPr/>
                    <a:lstStyle/>
                    <a:p>
                      <a:r>
                        <a:rPr lang="en-AU" sz="1200" b="0" dirty="0">
                          <a:latin typeface="+mn-lt"/>
                          <a:cs typeface="Times New Roman" panose="02020603050405020304" pitchFamily="18" charset="0"/>
                        </a:rPr>
                        <a:t>Technical Infrastructure</a:t>
                      </a:r>
                      <a:endParaRPr lang="en-A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>
                          <a:latin typeface="+mn-lt"/>
                          <a:cs typeface="Times New Roman" panose="02020603050405020304" pitchFamily="18" charset="0"/>
                        </a:rPr>
                        <a:t>Necessary infrastructure (cloud/compute resources, security frameworks) is available or can be procured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245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433194"/>
      </p:ext>
    </p:extLst>
  </p:cSld>
  <p:clrMapOvr>
    <a:masterClrMapping/>
  </p:clrMapOvr>
</p:sld>
</file>

<file path=ppt/theme/theme1.xml><?xml version="1.0" encoding="utf-8"?>
<a:theme xmlns:a="http://schemas.openxmlformats.org/drawingml/2006/main" name="Red Theme – Base Template">
  <a:themeElements>
    <a:clrScheme name="Custom 12">
      <a:dk1>
        <a:srgbClr val="000000"/>
      </a:dk1>
      <a:lt1>
        <a:srgbClr val="FFFFFF"/>
      </a:lt1>
      <a:dk2>
        <a:srgbClr val="004650"/>
      </a:dk2>
      <a:lt2>
        <a:srgbClr val="544741"/>
      </a:lt2>
      <a:accent1>
        <a:srgbClr val="CE372F"/>
      </a:accent1>
      <a:accent2>
        <a:srgbClr val="929799"/>
      </a:accent2>
      <a:accent3>
        <a:srgbClr val="E0C09D"/>
      </a:accent3>
      <a:accent4>
        <a:srgbClr val="C37C59"/>
      </a:accent4>
      <a:accent5>
        <a:srgbClr val="998500"/>
      </a:accent5>
      <a:accent6>
        <a:srgbClr val="4B9BA6"/>
      </a:accent6>
      <a:hlink>
        <a:srgbClr val="000000"/>
      </a:hlink>
      <a:folHlink>
        <a:srgbClr val="CE362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D7A24DE4C05F4BBB5C4C56065042C0" ma:contentTypeVersion="19" ma:contentTypeDescription="Create a new document." ma:contentTypeScope="" ma:versionID="81d9f11b086b8c62117fc53c4e8ef64b">
  <xsd:schema xmlns:xsd="http://www.w3.org/2001/XMLSchema" xmlns:xs="http://www.w3.org/2001/XMLSchema" xmlns:p="http://schemas.microsoft.com/office/2006/metadata/properties" xmlns:ns2="6867a6f7-72b6-486d-9d43-34eea5d95a67" xmlns:ns3="1fdedafb-009b-4a9b-aef6-7a2f181107b0" targetNamespace="http://schemas.microsoft.com/office/2006/metadata/properties" ma:root="true" ma:fieldsID="1714a1ccc961b4b4086575ddd354dfe2" ns2:_="" ns3:_="">
    <xsd:import namespace="6867a6f7-72b6-486d-9d43-34eea5d95a67"/>
    <xsd:import namespace="1fdedafb-009b-4a9b-aef6-7a2f181107b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3:FrameworkStage"/>
                <xsd:element ref="ns3:MediaServiceMetadata" minOccurs="0"/>
                <xsd:element ref="ns3:MediaServiceFastMetadata" minOccurs="0"/>
                <xsd:element ref="ns3:ProjectType" minOccurs="0"/>
                <xsd:element ref="ns2:SharedWithDetail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7a6f7-72b6-486d-9d43-34eea5d95a67" elementFormDefault="qualified">
    <xsd:import namespace="http://schemas.microsoft.com/office/2006/documentManagement/types"/>
    <xsd:import namespace="http://schemas.microsoft.com/office/infopath/2007/PartnerControls"/>
    <xsd:element name="SharedWithUsers" ma:index="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dedafb-009b-4a9b-aef6-7a2f181107b0" elementFormDefault="qualified">
    <xsd:import namespace="http://schemas.microsoft.com/office/2006/documentManagement/types"/>
    <xsd:import namespace="http://schemas.microsoft.com/office/infopath/2007/PartnerControls"/>
    <xsd:element name="FrameworkStage" ma:index="9" ma:displayName="Framework Stage" ma:format="Dropdown" ma:internalName="FrameworkStage" ma:readOnly="false">
      <xsd:simpleType>
        <xsd:restriction base="dms:Choice">
          <xsd:enumeration value="1 - Concept"/>
          <xsd:enumeration value="2 - Select"/>
          <xsd:enumeration value="3 - Define"/>
          <xsd:enumeration value="4 - Execute"/>
          <xsd:enumeration value="5 - Operate"/>
          <xsd:enumeration value="Stage Independent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ProjectType" ma:index="12" nillable="true" ma:displayName="Project Type" ma:internalName="ProjectType" ma:readOnly="false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Major Project"/>
                    <xsd:enumeration value="Minor Works"/>
                  </xsd:restriction>
                </xsd:simpleType>
              </xsd:element>
            </xsd:sequence>
          </xsd:extension>
        </xsd:complexContent>
      </xsd:complex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867a6f7-72b6-486d-9d43-34eea5d95a67">
      <UserInfo>
        <DisplayName>Peter Musca</DisplayName>
        <AccountId>102</AccountId>
        <AccountType/>
      </UserInfo>
    </SharedWithUsers>
    <FrameworkStage xmlns="1fdedafb-009b-4a9b-aef6-7a2f181107b0">1 - Concept</FrameworkStage>
    <ProjectType xmlns="1fdedafb-009b-4a9b-aef6-7a2f181107b0">
      <Value>Major Project</Value>
      <Value>Minor Works</Value>
    </ProjectType>
  </documentManagement>
</p:properties>
</file>

<file path=customXml/itemProps1.xml><?xml version="1.0" encoding="utf-8"?>
<ds:datastoreItem xmlns:ds="http://schemas.openxmlformats.org/officeDocument/2006/customXml" ds:itemID="{8B72B9FA-FCFF-4767-A75C-CDDA57F79E4F}">
  <ds:schemaRefs>
    <ds:schemaRef ds:uri="1fdedafb-009b-4a9b-aef6-7a2f181107b0"/>
    <ds:schemaRef ds:uri="6867a6f7-72b6-486d-9d43-34eea5d95a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26D5C6E-CABC-46E8-93FA-5FA7D1A43C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BE7EFA-F108-4030-9A0C-DF51D60E9A08}">
  <ds:schemaRefs>
    <ds:schemaRef ds:uri="1fdedafb-009b-4a9b-aef6-7a2f181107b0"/>
    <ds:schemaRef ds:uri="518b36bf-9131-465d-9612-031b6847a64f"/>
    <ds:schemaRef ds:uri="598a95bd-d4ad-4394-8ff9-87b7b048e22a"/>
    <ds:schemaRef ds:uri="6867a6f7-72b6-486d-9d43-34eea5d95a67"/>
    <ds:schemaRef ds:uri="8c19605f-4ac3-489f-94cd-351bb46b7a0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1633</Words>
  <Application>Microsoft Office PowerPoint</Application>
  <PresentationFormat>Widescreen</PresentationFormat>
  <Paragraphs>191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Red Theme – Base Template</vt:lpstr>
      <vt:lpstr>PowerPoint Presentation</vt:lpstr>
      <vt:lpstr>Business Context</vt:lpstr>
      <vt:lpstr>Business Problem (“however..”)</vt:lpstr>
      <vt:lpstr>Options/solutions (therefore..)</vt:lpstr>
      <vt:lpstr>High-level scope</vt:lpstr>
      <vt:lpstr>Business Drivers</vt:lpstr>
      <vt:lpstr>Risks</vt:lpstr>
      <vt:lpstr>Constraints</vt:lpstr>
      <vt:lpstr>Assumptions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Sponsor Brief</dc:title>
  <dc:creator>Beth Ierino</dc:creator>
  <cp:lastModifiedBy>Chris Pavlinovich</cp:lastModifiedBy>
  <cp:revision>5</cp:revision>
  <dcterms:created xsi:type="dcterms:W3CDTF">2021-05-07T01:10:19Z</dcterms:created>
  <dcterms:modified xsi:type="dcterms:W3CDTF">2026-06-23T01:12:31Z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0x010100F2D7A24DE4C05F4BBB5C4C56065042C0</vt:lpwstr>
  </property>
  <property fmtid="{D5CDD505-2E9C-101B-9397-08002B2CF9AE}" pid="3" name="Areas">
    <vt:lpwstr/>
  </property>
  <property fmtid="{D5CDD505-2E9C-101B-9397-08002B2CF9AE}" pid="4" name="Discipline Type">
    <vt:lpwstr>292;#Document Control|7cbfaafb-b00d-47bb-94f4-f6886ed6f263</vt:lpwstr>
  </property>
  <property fmtid="{D5CDD505-2E9C-101B-9397-08002B2CF9AE}" pid="5" name="Current Status">
    <vt:lpwstr>36;#Approved for Use|2ba82095-f138-42c7-a288-f7e07650d792</vt:lpwstr>
  </property>
  <property fmtid="{D5CDD505-2E9C-101B-9397-08002B2CF9AE}" pid="6" name="Companies">
    <vt:lpwstr>113;#Mineral Resources Limited|fd56a282-d48f-4282-9df5-162198279863</vt:lpwstr>
  </property>
  <property fmtid="{D5CDD505-2E9C-101B-9397-08002B2CF9AE}" pid="7" name="Sub-Category">
    <vt:lpwstr/>
  </property>
  <property fmtid="{D5CDD505-2E9C-101B-9397-08002B2CF9AE}" pid="8" name="Operations">
    <vt:lpwstr>101;#All|2cdd3c39-224f-4dd1-951f-e86ff6447c4d</vt:lpwstr>
  </property>
  <property fmtid="{D5CDD505-2E9C-101B-9397-08002B2CF9AE}" pid="9" name="Organizational Unit">
    <vt:lpwstr>134;#Document Control|2c59b3c4-ca84-4977-8cfd-5a89d20368f3</vt:lpwstr>
  </property>
  <property fmtid="{D5CDD505-2E9C-101B-9397-08002B2CF9AE}" pid="10" name="Document Type">
    <vt:lpwstr>151;#Template|a20a7ce8-f402-4eff-9cff-6d7a4b6e3bac</vt:lpwstr>
  </property>
  <property fmtid="{D5CDD505-2E9C-101B-9397-08002B2CF9AE}" pid="11" name="MediaServiceImageTags">
    <vt:lpwstr/>
  </property>
  <property fmtid="{D5CDD505-2E9C-101B-9397-08002B2CF9AE}" pid="12" name="Project Type">
    <vt:lpwstr>;#Major Project;#</vt:lpwstr>
  </property>
  <property fmtid="{D5CDD505-2E9C-101B-9397-08002B2CF9AE}" pid="13" name="Framework Stage">
    <vt:lpwstr>1 - Concept</vt:lpwstr>
  </property>
</Properties>
</file>